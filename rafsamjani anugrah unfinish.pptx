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ileron Bold" charset="1" panose="00000800000000000000"/>
      <p:regular r:id="rId21"/>
    </p:embeddedFont>
    <p:embeddedFont>
      <p:font typeface="Montserrat" charset="1" panose="00000500000000000000"/>
      <p:regular r:id="rId22"/>
    </p:embeddedFont>
    <p:embeddedFont>
      <p:font typeface="Montserrat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145" y="0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748364" y="8843932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65034" y="5861715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2" y="0"/>
                </a:lnTo>
                <a:lnTo>
                  <a:pt x="5118142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78868" y="2657174"/>
            <a:ext cx="11986493" cy="168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0"/>
              </a:lnSpc>
            </a:pPr>
            <a:r>
              <a:rPr lang="en-US" b="true" sz="1200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FINAL PROJECT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2198480" y="1884446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39774" y="6689221"/>
            <a:ext cx="3208452" cy="746521"/>
          </a:xfrm>
          <a:custGeom>
            <a:avLst/>
            <a:gdLst/>
            <a:ahLst/>
            <a:cxnLst/>
            <a:rect r="r" b="b" t="t" l="l"/>
            <a:pathLst>
              <a:path h="746521" w="3208452">
                <a:moveTo>
                  <a:pt x="0" y="0"/>
                </a:moveTo>
                <a:lnTo>
                  <a:pt x="3208452" y="0"/>
                </a:lnTo>
                <a:lnTo>
                  <a:pt x="3208452" y="746521"/>
                </a:lnTo>
                <a:lnTo>
                  <a:pt x="0" y="746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72548" y="4308210"/>
            <a:ext cx="9269254" cy="97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b="true" sz="6999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Credit Risk Prediction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78569" y="5441000"/>
            <a:ext cx="6257211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  <a:spcBef>
                <a:spcPct val="0"/>
              </a:spcBef>
            </a:pPr>
            <a:r>
              <a:rPr lang="en-US" b="true" sz="3000">
                <a:solidFill>
                  <a:srgbClr val="7D879E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Presented by : Rafsamjani Anugrah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35380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6"/>
                </a:lnTo>
                <a:lnTo>
                  <a:pt x="0" y="3524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7942398" y="-1837802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4"/>
                </a:moveTo>
                <a:lnTo>
                  <a:pt x="8638773" y="5733004"/>
                </a:lnTo>
                <a:lnTo>
                  <a:pt x="8638773" y="0"/>
                </a:lnTo>
                <a:lnTo>
                  <a:pt x="0" y="0"/>
                </a:lnTo>
                <a:lnTo>
                  <a:pt x="0" y="5733004"/>
                </a:lnTo>
                <a:close/>
              </a:path>
            </a:pathLst>
          </a:custGeom>
          <a:blipFill>
            <a:blip r:embed="rId4">
              <a:alphaModFix amt="1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011028" y="7244296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8"/>
                </a:moveTo>
                <a:lnTo>
                  <a:pt x="0" y="3411528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78428" y="1074354"/>
            <a:ext cx="8531143" cy="97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b="true" sz="69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Overview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3949327" y="2518301"/>
            <a:ext cx="4657591" cy="6431760"/>
          </a:xfrm>
          <a:custGeom>
            <a:avLst/>
            <a:gdLst/>
            <a:ahLst/>
            <a:cxnLst/>
            <a:rect r="r" b="b" t="t" l="l"/>
            <a:pathLst>
              <a:path h="6431760" w="4657591">
                <a:moveTo>
                  <a:pt x="4657591" y="0"/>
                </a:moveTo>
                <a:lnTo>
                  <a:pt x="0" y="0"/>
                </a:lnTo>
                <a:lnTo>
                  <a:pt x="0" y="6431759"/>
                </a:lnTo>
                <a:lnTo>
                  <a:pt x="4657591" y="6431759"/>
                </a:lnTo>
                <a:lnTo>
                  <a:pt x="4657591" y="0"/>
                </a:lnTo>
                <a:close/>
              </a:path>
            </a:pathLst>
          </a:custGeom>
          <a:blipFill>
            <a:blip r:embed="rId6"/>
            <a:stretch>
              <a:fillRect l="-19398" t="0" r="0" b="-276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51986" y="2821966"/>
            <a:ext cx="31256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51986" y="4450726"/>
            <a:ext cx="31256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&amp;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51986" y="6083700"/>
            <a:ext cx="31256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51986" y="7689558"/>
            <a:ext cx="31256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Modeling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70757" y="2533331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34836" y="4195828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34836" y="5858686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34836" y="7521544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4.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9082721" y="2518301"/>
            <a:ext cx="4657591" cy="6431760"/>
          </a:xfrm>
          <a:custGeom>
            <a:avLst/>
            <a:gdLst/>
            <a:ahLst/>
            <a:cxnLst/>
            <a:rect r="r" b="b" t="t" l="l"/>
            <a:pathLst>
              <a:path h="6431760" w="4657591">
                <a:moveTo>
                  <a:pt x="4657591" y="0"/>
                </a:moveTo>
                <a:lnTo>
                  <a:pt x="0" y="0"/>
                </a:lnTo>
                <a:lnTo>
                  <a:pt x="0" y="6431759"/>
                </a:lnTo>
                <a:lnTo>
                  <a:pt x="4657591" y="6431759"/>
                </a:lnTo>
                <a:lnTo>
                  <a:pt x="4657591" y="0"/>
                </a:lnTo>
                <a:close/>
              </a:path>
            </a:pathLst>
          </a:custGeom>
          <a:blipFill>
            <a:blip r:embed="rId6"/>
            <a:stretch>
              <a:fillRect l="-19398" t="0" r="0" b="-2760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885380" y="2821966"/>
            <a:ext cx="31256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Model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85380" y="4450726"/>
            <a:ext cx="31256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Insight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85380" y="6083700"/>
            <a:ext cx="31256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Dashboard Preview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88007" y="7770223"/>
            <a:ext cx="3123022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b="true" sz="21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4151" y="2533331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5.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68231" y="4195828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68231" y="5858686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7.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68231" y="7521544"/>
            <a:ext cx="810226" cy="749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23"/>
              </a:lnSpc>
            </a:pPr>
            <a:r>
              <a:rPr lang="en-US" b="true" sz="272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8.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220578" y="5553475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2" y="0"/>
                </a:lnTo>
                <a:lnTo>
                  <a:pt x="5118142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-2092740" y="2518301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2" y="3396584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3529" y="-202335"/>
            <a:ext cx="4447973" cy="2951837"/>
          </a:xfrm>
          <a:custGeom>
            <a:avLst/>
            <a:gdLst/>
            <a:ahLst/>
            <a:cxnLst/>
            <a:rect r="r" b="b" t="t" l="l"/>
            <a:pathLst>
              <a:path h="2951837" w="4447973">
                <a:moveTo>
                  <a:pt x="0" y="0"/>
                </a:moveTo>
                <a:lnTo>
                  <a:pt x="4447973" y="0"/>
                </a:lnTo>
                <a:lnTo>
                  <a:pt x="4447973" y="2951837"/>
                </a:lnTo>
                <a:lnTo>
                  <a:pt x="0" y="2951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877357" y="7318803"/>
            <a:ext cx="4799887" cy="3185380"/>
          </a:xfrm>
          <a:custGeom>
            <a:avLst/>
            <a:gdLst/>
            <a:ahLst/>
            <a:cxnLst/>
            <a:rect r="r" b="b" t="t" l="l"/>
            <a:pathLst>
              <a:path h="3185380" w="4799887">
                <a:moveTo>
                  <a:pt x="4799887" y="0"/>
                </a:moveTo>
                <a:lnTo>
                  <a:pt x="0" y="0"/>
                </a:lnTo>
                <a:lnTo>
                  <a:pt x="0" y="3185379"/>
                </a:lnTo>
                <a:lnTo>
                  <a:pt x="4799887" y="3185379"/>
                </a:lnTo>
                <a:lnTo>
                  <a:pt x="47998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262" y="-488243"/>
            <a:ext cx="5281132" cy="3984854"/>
          </a:xfrm>
          <a:custGeom>
            <a:avLst/>
            <a:gdLst/>
            <a:ahLst/>
            <a:cxnLst/>
            <a:rect r="r" b="b" t="t" l="l"/>
            <a:pathLst>
              <a:path h="3984854" w="5281132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2008" y="3420411"/>
            <a:ext cx="11892388" cy="43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Lending companies often face significant losses due to 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bad loans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especially when borrowers fail to meet their repayment obligations. Manual credit assessment is </a:t>
            </a:r>
            <a:r>
              <a:rPr lang="en-US" b="true" sz="2499" u="sng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slow, inconsistent, and inefficient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making it difficult to evaluate risk accurately.</a:t>
            </a:r>
          </a:p>
          <a:p>
            <a:pPr algn="just">
              <a:lnSpc>
                <a:spcPts val="3849"/>
              </a:lnSpc>
            </a:pPr>
          </a:p>
          <a:p>
            <a:pPr algn="just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The objective of this project is to develop a data-driven model that can estimate the </a:t>
            </a:r>
            <a:r>
              <a:rPr lang="en-US" b="true" sz="2499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probability of default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each loan application. This predictive approach will help reduce financial losses and improve the overall efficiency of the lending process.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94372" y="1438697"/>
            <a:ext cx="7315200" cy="1891990"/>
            <a:chOff x="0" y="0"/>
            <a:chExt cx="9753600" cy="2522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831934" y="298248"/>
              <a:ext cx="6553204" cy="2224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20"/>
                </a:lnSpc>
              </a:pPr>
              <a:r>
                <a:rPr lang="en-US" sz="6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Problem</a:t>
              </a:r>
            </a:p>
            <a:p>
              <a:pPr algn="l">
                <a:lnSpc>
                  <a:spcPts val="64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920808" y="6890415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-488243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947662" y="7300977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15596" y="3455937"/>
            <a:ext cx="12878361" cy="2482011"/>
          </a:xfrm>
          <a:custGeom>
            <a:avLst/>
            <a:gdLst/>
            <a:ahLst/>
            <a:cxnLst/>
            <a:rect r="r" b="b" t="t" l="l"/>
            <a:pathLst>
              <a:path h="2482011" w="1287836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94043" y="6238477"/>
            <a:ext cx="12878361" cy="2482011"/>
          </a:xfrm>
          <a:custGeom>
            <a:avLst/>
            <a:gdLst/>
            <a:ahLst/>
            <a:cxnLst/>
            <a:rect r="r" b="b" t="t" l="l"/>
            <a:pathLst>
              <a:path h="2482011" w="1287836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82051" y="3753777"/>
            <a:ext cx="10030193" cy="192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dataset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originates from Lending Club (2007–2014) and contains approximately 466,285 loan records.</a:t>
            </a:r>
          </a:p>
          <a:p>
            <a:pPr algn="ctr">
              <a:lnSpc>
                <a:spcPts val="3080"/>
              </a:lnSpc>
            </a:pPr>
          </a:p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While the original dataset includes 75 columns, around 20 essential features were retained after preprocessing for the modeling stage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21890" y="6505957"/>
            <a:ext cx="10390353" cy="153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ta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rget variable is Loan Status, with two categories: Default and Paid.</a:t>
            </a:r>
          </a:p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dataset is imbalanced (approx. 4:1), meaning “Paid” loans significantly outnumber “Default” loans an important consideration when training classification models.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75" y="3267488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333" y="6194269"/>
            <a:ext cx="1055989" cy="177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2"/>
              </a:lnSpc>
            </a:pPr>
            <a:r>
              <a:rPr lang="en-US" b="true" sz="643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94372" y="1438697"/>
            <a:ext cx="7759175" cy="1409839"/>
            <a:chOff x="0" y="0"/>
            <a:chExt cx="10345567" cy="18797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792363" y="358275"/>
              <a:ext cx="6553204" cy="1144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20"/>
                </a:lnSpc>
              </a:pPr>
              <a:r>
                <a:rPr lang="en-US" sz="6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Data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438697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11278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94372" y="1438697"/>
            <a:ext cx="7961766" cy="1409839"/>
            <a:chOff x="0" y="0"/>
            <a:chExt cx="10615688" cy="1879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081600" y="491159"/>
              <a:ext cx="8534088" cy="954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50"/>
                </a:lnSpc>
              </a:pPr>
              <a:r>
                <a:rPr lang="en-US" sz="5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PREPROCESSING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455625" y="3572464"/>
            <a:ext cx="4875898" cy="4825183"/>
          </a:xfrm>
          <a:custGeom>
            <a:avLst/>
            <a:gdLst/>
            <a:ahLst/>
            <a:cxnLst/>
            <a:rect r="r" b="b" t="t" l="l"/>
            <a:pathLst>
              <a:path h="4825183" w="4875898">
                <a:moveTo>
                  <a:pt x="0" y="0"/>
                </a:moveTo>
                <a:lnTo>
                  <a:pt x="4875898" y="0"/>
                </a:lnTo>
                <a:lnTo>
                  <a:pt x="4875898" y="4825183"/>
                </a:lnTo>
                <a:lnTo>
                  <a:pt x="0" y="48251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438697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11278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94372" y="1438697"/>
            <a:ext cx="7961766" cy="1409839"/>
            <a:chOff x="0" y="0"/>
            <a:chExt cx="10615688" cy="1879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081600" y="491159"/>
              <a:ext cx="8534088" cy="954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50"/>
                </a:lnSpc>
              </a:pPr>
              <a:r>
                <a:rPr lang="en-US" sz="5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PREPROCESSING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82168" y="3299377"/>
            <a:ext cx="5422812" cy="5366409"/>
          </a:xfrm>
          <a:custGeom>
            <a:avLst/>
            <a:gdLst/>
            <a:ahLst/>
            <a:cxnLst/>
            <a:rect r="r" b="b" t="t" l="l"/>
            <a:pathLst>
              <a:path h="5366409" w="5422812">
                <a:moveTo>
                  <a:pt x="0" y="0"/>
                </a:moveTo>
                <a:lnTo>
                  <a:pt x="5422812" y="0"/>
                </a:lnTo>
                <a:lnTo>
                  <a:pt x="5422812" y="5366408"/>
                </a:lnTo>
                <a:lnTo>
                  <a:pt x="0" y="53664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11278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24241" y="3233547"/>
            <a:ext cx="9894900" cy="640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oratory Data Analysis (EDA) revealed important patterns related to loan performance:</a:t>
            </a:r>
          </a:p>
          <a:p>
            <a:pPr algn="just">
              <a:lnSpc>
                <a:spcPts val="3387"/>
              </a:lnSpc>
            </a:pPr>
          </a:p>
          <a:p>
            <a:pPr algn="just" marL="474979" indent="-237490" lvl="1">
              <a:lnSpc>
                <a:spcPts val="3387"/>
              </a:lnSpc>
              <a:buFont typeface="Arial"/>
              <a:buChar char="•"/>
            </a:pPr>
            <a:r>
              <a:rPr lang="en-US" b="true" sz="2199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Distribution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Most loans were fully paid, while a smaller portion defaulted, consistent with the imbalance in the dataset.</a:t>
            </a:r>
          </a:p>
          <a:p>
            <a:pPr algn="just" marL="474979" indent="-237490" lvl="1">
              <a:lnSpc>
                <a:spcPts val="3387"/>
              </a:lnSpc>
              <a:buFont typeface="Arial"/>
              <a:buChar char="•"/>
            </a:pPr>
            <a:r>
              <a:rPr lang="en-US" b="true" sz="2199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Correlation Heatmap</a:t>
            </a:r>
            <a:r>
              <a:rPr lang="en-US" sz="2199">
                <a:solidFill>
                  <a:srgbClr val="2E499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Features such as interest rate, FICO score, and DTI show clear relationships with loan outcomes.</a:t>
            </a:r>
          </a:p>
          <a:p>
            <a:pPr algn="just" marL="474979" indent="-237490" lvl="1">
              <a:lnSpc>
                <a:spcPts val="3387"/>
              </a:lnSpc>
              <a:buFont typeface="Arial"/>
              <a:buChar char="•"/>
            </a:pPr>
            <a:r>
              <a:rPr lang="en-US" b="true" sz="2199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Patterns Observed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just" marL="949959" indent="-316653" lvl="2">
              <a:lnSpc>
                <a:spcPts val="3387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Higher loan grades are associated with lower default rates.</a:t>
            </a:r>
          </a:p>
          <a:p>
            <a:pPr algn="just" marL="949959" indent="-316653" lvl="2">
              <a:lnSpc>
                <a:spcPts val="3387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Borrowers with lower FICO scores are more likely to default.</a:t>
            </a:r>
          </a:p>
          <a:p>
            <a:pPr algn="just" marL="949959" indent="-316653" lvl="2">
              <a:lnSpc>
                <a:spcPts val="3387"/>
              </a:lnSpc>
              <a:buAutoNum type="alphaLcPeriod" startAt="1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Borrowers with higher Debt-to-Income ratios show increased default risk.</a:t>
            </a:r>
          </a:p>
          <a:p>
            <a:pPr algn="just" marL="474979" indent="-237490" lvl="1">
              <a:lnSpc>
                <a:spcPts val="3387"/>
              </a:lnSpc>
              <a:buFont typeface="Arial"/>
              <a:buChar char="•"/>
            </a:pPr>
            <a:r>
              <a:rPr lang="en-US" b="true" sz="2199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Correlated Features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Interest rate, sub-grade, FICO score, and DTI emerge as strong predictors of default</a:t>
            </a:r>
          </a:p>
          <a:p>
            <a:pPr algn="just">
              <a:lnSpc>
                <a:spcPts val="3387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094372" y="1438697"/>
            <a:ext cx="8321926" cy="1409839"/>
            <a:chOff x="0" y="0"/>
            <a:chExt cx="11095902" cy="1879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561814" y="400777"/>
              <a:ext cx="8534088" cy="1144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20"/>
                </a:lnSpc>
              </a:pPr>
              <a:r>
                <a:rPr lang="en-US" sz="6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Exploration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53547" y="-91535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68815" y="65268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5281132" cy="3984854"/>
          </a:xfrm>
          <a:custGeom>
            <a:avLst/>
            <a:gdLst/>
            <a:ahLst/>
            <a:cxnLst/>
            <a:rect r="r" b="b" t="t" l="l"/>
            <a:pathLst>
              <a:path h="3984854" w="5281132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04522" y="3603148"/>
            <a:ext cx="9894900" cy="387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our machine learning algorithms were evaluated for credit-risk prediction:</a:t>
            </a:r>
          </a:p>
          <a:p>
            <a:pPr algn="l">
              <a:lnSpc>
                <a:spcPts val="3080"/>
              </a:lnSpc>
            </a:pP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Logistic Regression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Used as a baseline model.</a:t>
            </a: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Random Forest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An ensemble method capable of capturing non-linear relationships.</a:t>
            </a: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</a:t>
            </a:r>
            <a:r>
              <a:rPr lang="en-US" sz="2000">
                <a:solidFill>
                  <a:srgbClr val="2E499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A gradient boosting algorithm known for strong performance on structured data.</a:t>
            </a: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Neural Network (MLP)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A multi-layer perceptron model tested as an alternative approach</a:t>
            </a:r>
          </a:p>
          <a:p>
            <a:pPr algn="l">
              <a:lnSpc>
                <a:spcPts val="308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094372" y="1438697"/>
            <a:ext cx="7315200" cy="1409839"/>
            <a:chOff x="0" y="0"/>
            <a:chExt cx="9753600" cy="18797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200396" y="400777"/>
              <a:ext cx="6553204" cy="1144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20"/>
                </a:lnSpc>
              </a:pPr>
              <a:r>
                <a:rPr lang="en-US" sz="6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Modeling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11278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12599" y="3114607"/>
            <a:ext cx="7361949" cy="512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2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 perf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ormance was assessed using several key metrics:</a:t>
            </a:r>
          </a:p>
          <a:p>
            <a:pPr algn="just" marL="388620" indent="-194310" lvl="1">
              <a:lnSpc>
                <a:spcPts val="2772"/>
              </a:lnSpc>
              <a:buFont typeface="Arial"/>
              <a:buChar char="•"/>
            </a:pPr>
            <a:r>
              <a:rPr lang="en-US" b="true" sz="18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</a:t>
            </a:r>
          </a:p>
          <a:p>
            <a:pPr algn="just" marL="388620" indent="-194310" lvl="1">
              <a:lnSpc>
                <a:spcPts val="2772"/>
              </a:lnSpc>
              <a:buFont typeface="Arial"/>
              <a:buChar char="•"/>
            </a:pPr>
            <a:r>
              <a:rPr lang="en-US" b="true" sz="18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Precision</a:t>
            </a:r>
          </a:p>
          <a:p>
            <a:pPr algn="just" marL="388620" indent="-194310" lvl="1">
              <a:lnSpc>
                <a:spcPts val="2772"/>
              </a:lnSpc>
              <a:buFont typeface="Arial"/>
              <a:buChar char="•"/>
            </a:pPr>
            <a:r>
              <a:rPr lang="en-US" b="true" sz="18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Recall</a:t>
            </a:r>
          </a:p>
          <a:p>
            <a:pPr algn="just" marL="388620" indent="-194310" lvl="1">
              <a:lnSpc>
                <a:spcPts val="2772"/>
              </a:lnSpc>
              <a:buFont typeface="Arial"/>
              <a:buChar char="•"/>
            </a:pPr>
            <a:r>
              <a:rPr lang="en-US" b="true" sz="18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F1-Score</a:t>
            </a:r>
          </a:p>
          <a:p>
            <a:pPr algn="just" marL="388620" indent="-194310" lvl="1">
              <a:lnSpc>
                <a:spcPts val="2772"/>
              </a:lnSpc>
              <a:buFont typeface="Arial"/>
              <a:buChar char="•"/>
            </a:pPr>
            <a:r>
              <a:rPr lang="en-US" b="true" sz="18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ROC-AUC</a:t>
            </a:r>
          </a:p>
          <a:p>
            <a:pPr algn="just">
              <a:lnSpc>
                <a:spcPts val="2772"/>
              </a:lnSpc>
            </a:pPr>
          </a:p>
          <a:p>
            <a:pPr algn="just">
              <a:lnSpc>
                <a:spcPts val="2772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-perfo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model was [FILL THIS: XGBoost or Random Forest], achieving:</a:t>
            </a:r>
          </a:p>
          <a:p>
            <a:pPr algn="just">
              <a:lnSpc>
                <a:spcPts val="2772"/>
              </a:lnSpc>
            </a:pPr>
          </a:p>
          <a:p>
            <a:pPr algn="just">
              <a:lnSpc>
                <a:spcPts val="2772"/>
              </a:lnSpc>
            </a:pPr>
          </a:p>
          <a:p>
            <a:pPr algn="just">
              <a:lnSpc>
                <a:spcPts val="2772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ROC curves show clear separation betwe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asse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s,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the confusion matrix provides insight into fals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tives and false negatives.</a:t>
            </a:r>
          </a:p>
          <a:p>
            <a:pPr algn="just">
              <a:lnSpc>
                <a:spcPts val="2772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094372" y="1438697"/>
            <a:ext cx="8524517" cy="1409839"/>
            <a:chOff x="0" y="0"/>
            <a:chExt cx="11366022" cy="18797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831934" y="400777"/>
              <a:ext cx="8534088" cy="1144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20"/>
                </a:lnSpc>
              </a:pPr>
              <a:r>
                <a:rPr lang="en-US" sz="6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Evaluation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53547" y="-91535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68815" y="65268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5281132" cy="3984854"/>
          </a:xfrm>
          <a:custGeom>
            <a:avLst/>
            <a:gdLst/>
            <a:ahLst/>
            <a:cxnLst/>
            <a:rect r="r" b="b" t="t" l="l"/>
            <a:pathLst>
              <a:path h="3984854" w="5281132">
                <a:moveTo>
                  <a:pt x="0" y="0"/>
                </a:moveTo>
                <a:lnTo>
                  <a:pt x="5281132" y="0"/>
                </a:lnTo>
                <a:lnTo>
                  <a:pt x="5281132" y="3984854"/>
                </a:lnTo>
                <a:lnTo>
                  <a:pt x="0" y="398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04522" y="3603148"/>
            <a:ext cx="9894900" cy="387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our machine learning algorithms were evaluated for credit-risk prediction:</a:t>
            </a:r>
          </a:p>
          <a:p>
            <a:pPr algn="l">
              <a:lnSpc>
                <a:spcPts val="3080"/>
              </a:lnSpc>
            </a:pP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Logistic Regression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Used as a baseline model.</a:t>
            </a: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Random Forest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An ensemble method capable of capturing non-linear relationships.</a:t>
            </a: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</a:t>
            </a:r>
            <a:r>
              <a:rPr lang="en-US" sz="2000">
                <a:solidFill>
                  <a:srgbClr val="2E499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A gradient boosting algorithm known for strong performance on structured data.</a:t>
            </a:r>
          </a:p>
          <a:p>
            <a:pPr algn="l" marL="431801" indent="-215900" lvl="1">
              <a:lnSpc>
                <a:spcPts val="3080"/>
              </a:lnSpc>
              <a:buAutoNum type="arabicPeriod" startAt="1"/>
            </a:pPr>
            <a:r>
              <a:rPr lang="en-US" b="true" sz="2000">
                <a:solidFill>
                  <a:srgbClr val="2E49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Neural Network (MLP)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A multi-layer perceptron model tested as an alternative approach</a:t>
            </a:r>
          </a:p>
          <a:p>
            <a:pPr algn="l">
              <a:lnSpc>
                <a:spcPts val="308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094372" y="1438697"/>
            <a:ext cx="7315200" cy="1409839"/>
            <a:chOff x="0" y="0"/>
            <a:chExt cx="9753600" cy="18797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200396" y="400777"/>
              <a:ext cx="6553204" cy="1144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20"/>
                </a:lnSpc>
              </a:pPr>
              <a:r>
                <a:rPr lang="en-US" sz="6000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Insights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11278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12599" y="3114607"/>
            <a:ext cx="7196972" cy="546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2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Based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the model results, the following recommendations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prop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sed:</a:t>
            </a:r>
          </a:p>
          <a:p>
            <a:pPr algn="just">
              <a:lnSpc>
                <a:spcPts val="2772"/>
              </a:lnSpc>
            </a:pPr>
          </a:p>
          <a:p>
            <a:pPr algn="just" marL="388620" indent="-194310" lvl="1">
              <a:lnSpc>
                <a:spcPts val="2772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isk Thr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 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ramew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just" marL="777240" indent="-259080" lvl="2">
              <a:lnSpc>
                <a:spcPts val="2772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&lt; 30%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efaul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probab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ility →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1800">
                <a:solidFill>
                  <a:srgbClr val="0897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APPROVE</a:t>
            </a:r>
          </a:p>
          <a:p>
            <a:pPr algn="just" marL="777240" indent="-259080" lvl="2">
              <a:lnSpc>
                <a:spcPts val="2772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30–60% default probability →</a:t>
            </a:r>
            <a:r>
              <a:rPr lang="en-US" sz="1800">
                <a:solidFill>
                  <a:srgbClr val="013C8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1800">
                <a:solidFill>
                  <a:srgbClr val="013C8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REVIEW</a:t>
            </a:r>
          </a:p>
          <a:p>
            <a:pPr algn="just" marL="777240" indent="-259080" lvl="2">
              <a:lnSpc>
                <a:spcPts val="2772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&gt; 60% default probability → </a:t>
            </a:r>
            <a:r>
              <a:rPr lang="en-US" b="true" sz="1800">
                <a:solidFill>
                  <a:srgbClr val="E9040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DECLINE</a:t>
            </a:r>
          </a:p>
          <a:p>
            <a:pPr algn="just" marL="388620" indent="-194310" lvl="1">
              <a:lnSpc>
                <a:spcPts val="2772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Risk-Based Pricing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dj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 interest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 ac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ording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ted r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 t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compe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sate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pot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nti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ss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s.</a:t>
            </a:r>
          </a:p>
          <a:p>
            <a:pPr algn="just" marL="388620" indent="-194310" lvl="1">
              <a:lnSpc>
                <a:spcPts val="2772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perational Dashboard</a:t>
            </a: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mplement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real-time dashboard to track risk levels and model performance,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nabling f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aster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and more accurate decisions.</a:t>
            </a:r>
          </a:p>
          <a:p>
            <a:pPr algn="just" marL="388620" indent="-194310" lvl="1">
              <a:lnSpc>
                <a:spcPts val="2772"/>
              </a:lnSpc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 Impact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By applying this risk-based strategy, the company can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poten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tially reduce bad loans by [FILL THIS: expected %] and improve overall portfolio quality.</a:t>
            </a:r>
          </a:p>
          <a:p>
            <a:pPr algn="just">
              <a:lnSpc>
                <a:spcPts val="2772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094372" y="1438697"/>
            <a:ext cx="7315200" cy="1409839"/>
            <a:chOff x="0" y="0"/>
            <a:chExt cx="9753600" cy="18797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1879785"/>
            </a:xfrm>
            <a:custGeom>
              <a:avLst/>
              <a:gdLst/>
              <a:ahLst/>
              <a:cxnLst/>
              <a:rect r="r" b="b" t="t" l="l"/>
              <a:pathLst>
                <a:path h="187978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79785"/>
                  </a:lnTo>
                  <a:lnTo>
                    <a:pt x="0" y="1879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591827" y="626598"/>
              <a:ext cx="6380031" cy="6551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6"/>
                </a:lnSpc>
              </a:pPr>
              <a:r>
                <a:rPr lang="en-US" sz="3398" b="true">
                  <a:solidFill>
                    <a:srgbClr val="FCFE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RECOMMENDATIONS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11278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96550" y="2600130"/>
            <a:ext cx="7315200" cy="1409839"/>
          </a:xfrm>
          <a:custGeom>
            <a:avLst/>
            <a:gdLst/>
            <a:ahLst/>
            <a:cxnLst/>
            <a:rect r="r" b="b" t="t" l="l"/>
            <a:pathLst>
              <a:path h="1409839" w="7315200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96550" y="4194205"/>
            <a:ext cx="10332727" cy="4649727"/>
          </a:xfrm>
          <a:custGeom>
            <a:avLst/>
            <a:gdLst/>
            <a:ahLst/>
            <a:cxnLst/>
            <a:rect r="r" b="b" t="t" l="l"/>
            <a:pathLst>
              <a:path h="4649727" w="10332727">
                <a:moveTo>
                  <a:pt x="0" y="0"/>
                </a:moveTo>
                <a:lnTo>
                  <a:pt x="10332727" y="0"/>
                </a:lnTo>
                <a:lnTo>
                  <a:pt x="10332727" y="4649727"/>
                </a:lnTo>
                <a:lnTo>
                  <a:pt x="0" y="4649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27191" y="2895030"/>
            <a:ext cx="4914903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true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Result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9859" y="394684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68815" y="65268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488243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947662" y="7300977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72210" y="2139565"/>
            <a:ext cx="4914903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9661" y="3706152"/>
            <a:ext cx="9894900" cy="187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b="true" sz="32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Lorem ipsum dolor sit amet, consectetur adipisicing elit, sed do eiusmod tempor incididunt ut labore et dolore magna aliqua.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9859" y="394684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168815" y="6526800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2" y="3396585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488243"/>
            <a:ext cx="4670423" cy="3524046"/>
          </a:xfrm>
          <a:custGeom>
            <a:avLst/>
            <a:gdLst/>
            <a:ahLst/>
            <a:cxnLst/>
            <a:rect r="r" b="b" t="t" l="l"/>
            <a:pathLst>
              <a:path h="3524046" w="4670423">
                <a:moveTo>
                  <a:pt x="0" y="0"/>
                </a:moveTo>
                <a:lnTo>
                  <a:pt x="4670423" y="0"/>
                </a:lnTo>
                <a:lnTo>
                  <a:pt x="4670423" y="3524047"/>
                </a:lnTo>
                <a:lnTo>
                  <a:pt x="0" y="352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947662" y="7300977"/>
            <a:ext cx="4521303" cy="3411529"/>
          </a:xfrm>
          <a:custGeom>
            <a:avLst/>
            <a:gdLst/>
            <a:ahLst/>
            <a:cxnLst/>
            <a:rect r="r" b="b" t="t" l="l"/>
            <a:pathLst>
              <a:path h="3411529" w="4521303">
                <a:moveTo>
                  <a:pt x="4521303" y="3411529"/>
                </a:moveTo>
                <a:lnTo>
                  <a:pt x="0" y="3411529"/>
                </a:lnTo>
                <a:lnTo>
                  <a:pt x="0" y="0"/>
                </a:lnTo>
                <a:lnTo>
                  <a:pt x="4521303" y="0"/>
                </a:lnTo>
                <a:lnTo>
                  <a:pt x="4521303" y="3411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15596" y="3455937"/>
            <a:ext cx="12878361" cy="2482011"/>
          </a:xfrm>
          <a:custGeom>
            <a:avLst/>
            <a:gdLst/>
            <a:ahLst/>
            <a:cxnLst/>
            <a:rect r="r" b="b" t="t" l="l"/>
            <a:pathLst>
              <a:path h="2482011" w="12878361">
                <a:moveTo>
                  <a:pt x="0" y="0"/>
                </a:moveTo>
                <a:lnTo>
                  <a:pt x="12878361" y="0"/>
                </a:lnTo>
                <a:lnTo>
                  <a:pt x="12878361" y="2482012"/>
                </a:lnTo>
                <a:lnTo>
                  <a:pt x="0" y="2482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72210" y="2139565"/>
            <a:ext cx="4914903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Reference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94043" y="6238477"/>
            <a:ext cx="12878361" cy="2482011"/>
          </a:xfrm>
          <a:custGeom>
            <a:avLst/>
            <a:gdLst/>
            <a:ahLst/>
            <a:cxnLst/>
            <a:rect r="r" b="b" t="t" l="l"/>
            <a:pathLst>
              <a:path h="2482011" w="12878361">
                <a:moveTo>
                  <a:pt x="0" y="0"/>
                </a:moveTo>
                <a:lnTo>
                  <a:pt x="12878361" y="0"/>
                </a:lnTo>
                <a:lnTo>
                  <a:pt x="12878361" y="2482011"/>
                </a:lnTo>
                <a:lnTo>
                  <a:pt x="0" y="2482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29661" y="3706152"/>
            <a:ext cx="9894900" cy="187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b="true" sz="32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Lorem ipsum dolor sit amet, consectetur adipisicing elit, sed do eiusmod tempor incididunt ut labore et dolore magna aliqua.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9661" y="6488692"/>
            <a:ext cx="9894900" cy="187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1"/>
              </a:lnSpc>
            </a:pPr>
            <a:r>
              <a:rPr lang="en-US" b="true" sz="32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Lorem ipsum dolor sit amet, consectetur adipisicing elit, sed do eiusmod tempor incididunt ut labore et dolore magna aliqua.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75" y="3267488"/>
            <a:ext cx="1056248" cy="177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6"/>
              </a:lnSpc>
            </a:pPr>
            <a:r>
              <a:rPr lang="en-US" b="true" sz="64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333" y="6194269"/>
            <a:ext cx="1055989" cy="177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92"/>
              </a:lnSpc>
            </a:pPr>
            <a:r>
              <a:rPr lang="en-US" b="true" sz="643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145" y="0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748364" y="8843932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9859" y="5618309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7997" y="3253490"/>
            <a:ext cx="10792006" cy="23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71"/>
              </a:lnSpc>
            </a:pPr>
            <a:r>
              <a:rPr lang="en-US" b="true" sz="16889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Thank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6708" y="5184737"/>
            <a:ext cx="3274583" cy="20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39"/>
              </a:lnSpc>
            </a:pPr>
            <a:r>
              <a:rPr lang="en-US" b="true" sz="14616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You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1050468" y="1355173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DAG7U9KnQgE</dc:identifier>
  <dcterms:modified xsi:type="dcterms:W3CDTF">2011-08-01T06:04:30Z</dcterms:modified>
  <cp:revision>1</cp:revision>
  <dc:title>Blue Grey Simple Geometric Research Project Presentation</dc:title>
</cp:coreProperties>
</file>